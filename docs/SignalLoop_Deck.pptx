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1280160"/>
            <a:ext cx="164592" cy="164592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" y="1280160"/>
            <a:ext cx="164592" cy="164592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08176" y="1280160"/>
            <a:ext cx="164592" cy="164592"/>
          </a:xfrm>
          <a:prstGeom prst="ellipse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00784" y="1280160"/>
            <a:ext cx="164592" cy="164592"/>
          </a:xfrm>
          <a:prstGeom prst="ellipse">
            <a:avLst/>
          </a:prstGeom>
          <a:solidFill>
            <a:srgbClr val="FDC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Segoe UI Semibold"/>
              </a:rPr>
              <a:t>SignalLoop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A29BFE"/>
                </a:solidFill>
                <a:latin typeface="Segoe UI"/>
              </a:rPr>
              <a:t>Turning raw user feedback into an evidence-backed product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Anuj Kumar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D8D3F2"/>
                </a:solidFill>
                <a:latin typeface="Segoe UI"/>
              </a:rPr>
              <a:t>  ·  Aspiring AI Product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8D3F2"/>
                </a:solidFill>
                <a:latin typeface="Segoe UI"/>
              </a:rPr>
              <a:t>signalloop.streamlit.app    ·    github.com/sainianuj07/signalloop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C5CE7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41B4B"/>
                </a:solidFill>
                <a:latin typeface="Segoe UI Semibold"/>
              </a:rPr>
              <a:t>Teams drown in feedback — and decide by gut.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640080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6B6790"/>
                </a:solidFill>
                <a:latin typeface="Segoe UI"/>
              </a:rPr>
              <a:t>Early-stage SaaS teams collect feedback everywhere — app reviews, tickets, NPS — but nobody has time to read it all.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6790"/>
                </a:solidFill>
                <a:latin typeface="Segoe UI"/>
              </a:rPr>
              <a:t>So roadmap calls default to the loudest customer or a hunch. The signal is in there; it just never gets found.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240280"/>
            <a:ext cx="3749039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749039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6400" b="1" i="0">
                <a:solidFill>
                  <a:srgbClr val="6C5CE7"/>
                </a:solidFill>
                <a:latin typeface="Segoe UI Semibold"/>
              </a:rPr>
              <a:t>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347472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6B6790"/>
                </a:solidFill>
                <a:latin typeface="Segoe UI"/>
              </a:rPr>
              <a:t>real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886200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17055"/>
                </a:solidFill>
                <a:latin typeface="Segoe UI"/>
              </a:rPr>
              <a:t>0 PMs with time to read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C5CE7"/>
                </a:solidFill>
                <a:latin typeface="Segoe UI Semibold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41B4B"/>
                </a:solidFill>
                <a:latin typeface="Segoe UI Semibold"/>
              </a:rPr>
              <a:t>Close the loop — feedback to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248716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2487168" cy="10972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3042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41B4B"/>
                </a:solidFill>
                <a:latin typeface="Segoe UI Semibold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2304288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Reviews &amp; tickets
into one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520440"/>
            <a:ext cx="31089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A29BFE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743200"/>
            <a:ext cx="248716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538728" y="2743200"/>
            <a:ext cx="2487168" cy="109728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30168" y="3063240"/>
            <a:ext cx="23042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41B4B"/>
                </a:solidFill>
                <a:latin typeface="Segoe UI Semibold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657600"/>
            <a:ext cx="2304288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LLM labels every
item (type, severity)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3520440"/>
            <a:ext cx="31089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A29BFE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2743200"/>
            <a:ext cx="248716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300216" y="2743200"/>
            <a:ext cx="2487168" cy="10972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91655" y="3063240"/>
            <a:ext cx="23042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41B4B"/>
                </a:solidFill>
                <a:latin typeface="Segoe UI Semibold"/>
              </a:rPr>
              <a:t>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3657600"/>
            <a:ext cx="2304288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Cluster into themes
→ rank with 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96" y="3520440"/>
            <a:ext cx="31089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A29BFE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2743200"/>
            <a:ext cx="248716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061704" y="2743200"/>
            <a:ext cx="2487168" cy="109728"/>
          </a:xfrm>
          <a:prstGeom prst="rect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3144" y="3063240"/>
            <a:ext cx="23042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41B4B"/>
                </a:solidFill>
                <a:latin typeface="Segoe UI Semibold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3657600"/>
            <a:ext cx="2304288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PRDs, decisions,
weekly briefs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6790"/>
                </a:solidFill>
                <a:latin typeface="Segoe UI"/>
              </a:rPr>
              <a:t>Built end-to-end on 216 live Notion reviews — not a toy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984E3"/>
                </a:solidFill>
                <a:latin typeface="Segoe UI Semibold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41B4B"/>
                </a:solidFill>
                <a:latin typeface="Segoe UI Semibold"/>
              </a:rPr>
              <a:t>Every review becomes structured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6790"/>
                </a:solidFill>
                <a:latin typeface="Segoe UI"/>
              </a:rPr>
              <a:t>An LLM turns messy text into clean JSON the product can actually use — labelled by type, product area, sentiment, and severity. Batched, retried, with an offline mock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608076" cy="502920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3511296"/>
            <a:ext cx="60807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41B4B"/>
                </a:solidFill>
                <a:latin typeface="Segoe UI"/>
              </a:rPr>
              <a:t>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3916" y="3429000"/>
            <a:ext cx="1869948" cy="502920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13916" y="3511296"/>
            <a:ext cx="18699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41B4B"/>
                </a:solidFill>
                <a:latin typeface="Segoe UI"/>
              </a:rPr>
              <a:t>feature_request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66744" y="3429000"/>
            <a:ext cx="1449324" cy="502920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66744" y="3511296"/>
            <a:ext cx="144932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41B4B"/>
                </a:solidFill>
                <a:latin typeface="Segoe UI"/>
              </a:rPr>
              <a:t>ux_friction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8948" y="3429000"/>
            <a:ext cx="1028700" cy="502920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298948" y="3511296"/>
            <a:ext cx="10287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41B4B"/>
                </a:solidFill>
                <a:latin typeface="Segoe UI"/>
              </a:rPr>
              <a:t>pricing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3429000"/>
            <a:ext cx="1344168" cy="502920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0528" y="3511296"/>
            <a:ext cx="134416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41B4B"/>
                </a:solidFill>
                <a:latin typeface="Segoe UI"/>
              </a:rPr>
              <a:t>churn_risk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6" y="3429000"/>
            <a:ext cx="1133856" cy="502920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37576" y="3511296"/>
            <a:ext cx="113385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41B4B"/>
                </a:solidFill>
                <a:latin typeface="Segoe UI"/>
              </a:rPr>
              <a:t>question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54312" y="3429000"/>
            <a:ext cx="923544" cy="502920"/>
          </a:xfrm>
          <a:prstGeom prst="round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54312" y="3511296"/>
            <a:ext cx="92354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41B4B"/>
                </a:solidFill>
                <a:latin typeface="Segoe UI"/>
              </a:rPr>
              <a:t>praise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891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 i="0">
                <a:solidFill>
                  <a:srgbClr val="6C5CE7"/>
                </a:solidFill>
                <a:latin typeface="Segoe UI Semibold"/>
              </a:rPr>
              <a:t>216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0352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reviews labelled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3891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 i="0">
                <a:solidFill>
                  <a:srgbClr val="0984E3"/>
                </a:solidFill>
                <a:latin typeface="Segoe UI Semibold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30352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feedback types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3891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0" y="452628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 i="0">
                <a:solidFill>
                  <a:srgbClr val="00B894"/>
                </a:solidFill>
                <a:latin typeface="Segoe UI Semibold"/>
              </a:rPr>
              <a:t>1-4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0352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severity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B894"/>
                </a:solidFill>
                <a:latin typeface="Segoe UI Semibold"/>
              </a:rPr>
              <a:t>THE EVAL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“How do I know the AI is right?”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64922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D8D3F2"/>
                </a:solidFill>
                <a:latin typeface="Segoe UI"/>
              </a:rPr>
              <a:t>I hand-labelled a golden set, then built an 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A29BFE"/>
                </a:solidFill>
                <a:latin typeface="Segoe UI"/>
              </a:rPr>
              <a:t>independent LLM judge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D8D3F2"/>
                </a:solidFill>
                <a:latin typeface="Segoe UI"/>
              </a:rPr>
              <a:t> — OpenAI’s model grading Meta’s, so it can’t just agree with itself. I only trusted it after it matched my human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48840"/>
            <a:ext cx="3840480" cy="1371600"/>
          </a:xfrm>
          <a:prstGeom prst="roundRect">
            <a:avLst/>
          </a:prstGeom>
          <a:solidFill>
            <a:srgbClr val="32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89520" y="228600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 i="0">
                <a:solidFill>
                  <a:srgbClr val="00B894"/>
                </a:solidFill>
                <a:latin typeface="Segoe UI Semibold"/>
              </a:rPr>
              <a:t>~96%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06324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D8D3F2"/>
                </a:solidFill>
                <a:latin typeface="Segoe UI"/>
              </a:rPr>
              <a:t>judge-estimated type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561320" cy="1600200"/>
          </a:xfrm>
          <a:prstGeom prst="roundRect">
            <a:avLst/>
          </a:prstGeom>
          <a:solidFill>
            <a:srgbClr val="32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DCB6E"/>
                </a:solidFill>
                <a:latin typeface="Segoe UI"/>
              </a:rPr>
              <a:t>It caught a bias I’d never have spotted by eye: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01498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D8D3F2"/>
                </a:solidFill>
                <a:latin typeface="Segoe UI"/>
              </a:rPr>
              <a:t>The classifier tagged </a:t>
            </a:r>
          </a:p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FFFFFF"/>
                </a:solidFill>
                <a:latin typeface="Segoe UI"/>
              </a:rPr>
              <a:t>angry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D8D3F2"/>
                </a:solidFill>
                <a:latin typeface="Segoe UI"/>
              </a:rPr>
              <a:t> reviews as 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29BFE"/>
                </a:solidFill>
                <a:latin typeface="Segoe UI"/>
              </a:rPr>
              <a:t>churn_risk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D8D3F2"/>
                </a:solidFill>
                <a:latin typeface="Segoe UI"/>
              </a:rPr>
              <a:t> even when nobody said they’d leave. I tightened the prompt (anger ≠ churn), re-ran the eval, and the bad labels dropped 14 → 9. Measure → fix → measure.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B894"/>
                </a:solidFill>
                <a:latin typeface="Segoe UI Semibold"/>
              </a:rPr>
              <a:t>PRIORITIZE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41B4B"/>
                </a:solidFill>
                <a:latin typeface="Segoe UI Semibold"/>
              </a:rPr>
              <a:t>From themes to a ranked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6790"/>
                </a:solidFill>
                <a:latin typeface="Segoe UI"/>
              </a:rPr>
              <a:t>Reviews are embedded, clustered into named themes, then scored with RICE = (Reach × Impact × Confidence) / Effort — so priority is grounded in data, not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41B4B"/>
                </a:solidFill>
                <a:latin typeface="Segoe UI"/>
              </a:rPr>
              <a:t>App Performance &amp; Stability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429000"/>
            <a:ext cx="5486400" cy="292608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0661904" y="3401568"/>
            <a:ext cx="822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698480" y="3410712"/>
            <a:ext cx="9144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Segoe UI"/>
              </a:rPr>
              <a:t>34.8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50208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41B4B"/>
                </a:solidFill>
                <a:latin typeface="Segoe UI"/>
              </a:rPr>
              <a:t>UI/UX &amp; Mobile Hurdles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995928"/>
            <a:ext cx="3346704" cy="292608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522208" y="3968496"/>
            <a:ext cx="822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58784" y="3977640"/>
            <a:ext cx="9144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Segoe UI"/>
              </a:rPr>
              <a:t>21.2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17136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41B4B"/>
                </a:solidFill>
                <a:latin typeface="Segoe UI"/>
              </a:rPr>
              <a:t>Functionality &amp; Usability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562856"/>
            <a:ext cx="3072384" cy="292608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247888" y="4535424"/>
            <a:ext cx="822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84464" y="4544568"/>
            <a:ext cx="9144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Segoe UI"/>
              </a:rPr>
              <a:t>19.4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84064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41B4B"/>
                </a:solidFill>
                <a:latin typeface="Segoe UI"/>
              </a:rPr>
              <a:t>Intrusive AI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5129784"/>
            <a:ext cx="2194560" cy="292608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370064" y="5102352"/>
            <a:ext cx="822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06640" y="5111496"/>
            <a:ext cx="9144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Segoe UI"/>
              </a:rPr>
              <a:t>14.0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50992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41B4B"/>
                </a:solidFill>
                <a:latin typeface="Segoe UI"/>
              </a:rPr>
              <a:t>False Offline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5696712"/>
            <a:ext cx="2029967" cy="292608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205471" y="5669280"/>
            <a:ext cx="822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42047" y="5678424"/>
            <a:ext cx="914400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Segoe UI"/>
              </a:rPr>
              <a:t>12.8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17055"/>
                </a:solidFill>
                <a:latin typeface="Segoe UI Semibold"/>
              </a:rPr>
              <a:t>ACT ·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41B4B"/>
                </a:solidFill>
                <a:latin typeface="Segoe UI Semibold"/>
              </a:rPr>
              <a:t>PRDs that can’t hallucinate quotes.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64008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6790"/>
                </a:solidFill>
                <a:latin typeface="Segoe UI"/>
              </a:rPr>
              <a:t>The generator drafts a full PRD where 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41B4B"/>
                </a:solidFill>
                <a:latin typeface="Segoe UI"/>
              </a:rPr>
              <a:t>every claim cites a real review ID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6790"/>
                </a:solidFill>
                <a:latin typeface="Segoe UI"/>
              </a:rPr>
              <a:t> like [#149]. A checker verifies each citation exists, and the evidence quotes are pulled straight from the database — not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6400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241B4B"/>
                </a:solidFill>
                <a:latin typeface="Segoe UI"/>
              </a:rPr>
              <a:t>So the model picks which reviews to cite; my code supplies the actual words. A faked quote is impossible by construction.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286000"/>
            <a:ext cx="3840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89520" y="246888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6B6790"/>
                </a:solidFill>
                <a:latin typeface="Segoe UI"/>
              </a:rPr>
              <a:t>Citation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88036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 i="0">
                <a:solidFill>
                  <a:srgbClr val="00B894"/>
                </a:solidFill>
                <a:latin typeface="Segoe UI Semibold"/>
              </a:rPr>
              <a:t>15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79476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6B6790"/>
                </a:solidFill>
                <a:latin typeface="Segoe UI"/>
              </a:rPr>
              <a:t>citations valid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206240"/>
            <a:ext cx="3840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E17055"/>
                </a:solidFill>
                <a:latin typeface="Segoe UI"/>
              </a:rPr>
              <a:t>0 hallucinated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17055"/>
                </a:solidFill>
                <a:latin typeface="Segoe UI Semibold"/>
              </a:rPr>
              <a:t>ACT ·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41B4B"/>
                </a:solidFill>
                <a:latin typeface="Segoe UI Semibold"/>
              </a:rPr>
              <a:t>Prioritization is a negotiation, not a formula.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6790"/>
                </a:solidFill>
                <a:latin typeface="Segoe UI"/>
              </a:rPr>
              <a:t>Three agents debate the roadmap from their own incentives; a Head-of-Product agent makes the call — and records who got overruled.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22960" y="3200400"/>
            <a:ext cx="109728" cy="13716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41B4B"/>
                </a:solidFill>
                <a:latin typeface="Segoe UI Semibold"/>
              </a:rPr>
              <a:t>Growth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reach · retention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20040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566160" y="3200400"/>
            <a:ext cx="109728" cy="137160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94760" y="338328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41B4B"/>
                </a:solidFill>
                <a:latin typeface="Segoe UI Semibold"/>
              </a:rP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8404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effort ·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0040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09360" y="3200400"/>
            <a:ext cx="109728" cy="1371600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37960" y="338328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41B4B"/>
                </a:solidFill>
                <a:latin typeface="Segoe UI Semibold"/>
              </a:rPr>
              <a:t>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8404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cost ·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61188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A29BFE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200400"/>
            <a:ext cx="2011680" cy="1371600"/>
          </a:xfrm>
          <a:prstGeom prst="roundRect">
            <a:avLst/>
          </a:prstGeom>
          <a:solidFill>
            <a:srgbClr val="24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0" y="340156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Head of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84048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29BFE"/>
                </a:solidFill>
                <a:latin typeface="Segoe UI"/>
              </a:rPr>
              <a:t>decides + logs dissent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6790"/>
                </a:solidFill>
                <a:latin typeface="Segoe UI"/>
              </a:rPr>
              <a:t>“I’m knowingly setting aside Engineering’s concern on False Offline Status — and I’m comfortable carrying that risk.”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17055"/>
                </a:solidFill>
                <a:latin typeface="Segoe UI Semibold"/>
              </a:rPr>
              <a:t>ACT ·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41B4B"/>
                </a:solidFill>
                <a:latin typeface="Segoe UI Semibold"/>
              </a:rPr>
              <a:t>Watching what’s changing, not just what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64008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6790"/>
                </a:solidFill>
                <a:latin typeface="Segoe UI"/>
              </a:rPr>
              <a:t>A static dashboard shows the state of feedback. Drift compares this week to last and flags the spikes — the emerging issues a ranked table buries.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286000"/>
            <a:ext cx="39319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79" y="251460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41B4B"/>
                </a:solidFill>
                <a:latin typeface="Segoe UI"/>
              </a:rPr>
              <a:t>False Offline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017520"/>
            <a:ext cx="393192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B6790"/>
                </a:solidFill>
                <a:latin typeface="Segoe UI Semibold"/>
              </a:rPr>
              <a:t>1 </a:t>
            </a:r>
          </a:p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A29BFE"/>
                </a:solidFill>
                <a:latin typeface="Segoe UI Semibold"/>
              </a:rPr>
              <a:t> → </a:t>
            </a:r>
          </a:p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E17055"/>
                </a:solidFill>
                <a:latin typeface="Segoe UI Semibold"/>
              </a:rPr>
              <a:t>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11480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B6790"/>
                </a:solidFill>
                <a:latin typeface="Segoe UI"/>
              </a:rPr>
              <a:t>complaints, week over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48056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6C5CE7"/>
                </a:solidFill>
                <a:latin typeface="Segoe UI"/>
              </a:rPr>
              <a:t>+ an auto-written “State of Feedback”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241B4B"/>
                </a:solidFill>
                <a:latin typeface="Segoe UI"/>
              </a:rPr>
              <a:t>6× in a week often means a fresh regression — exactly what you want flagged early.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713232"/>
            <a:ext cx="146304" cy="14630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03504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C5CE7"/>
                </a:solidFill>
                <a:latin typeface="Segoe UI Semibold"/>
              </a:rP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41B4B"/>
                </a:solidFill>
                <a:latin typeface="Segoe UI Semibold"/>
              </a:rPr>
              <a:t>The honest part.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128016" cy="1143000"/>
          </a:xfrm>
          <a:prstGeom prst="rect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41B4B"/>
                </a:solidFill>
                <a:latin typeface="Segoe UI Semibold"/>
              </a:rPr>
              <a:t>Rate limits were the real boss fight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6790"/>
                </a:solidFill>
                <a:latin typeface="Segoe UI"/>
              </a:rPr>
              <a:t>Not model quality. I built provider fallback, cooldowns, and an embedding cache to survive free tiers.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57600"/>
            <a:ext cx="128016" cy="1143000"/>
          </a:xfrm>
          <a:prstGeom prst="rect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41B4B"/>
                </a:solidFill>
                <a:latin typeface="Segoe UI Semibold"/>
              </a:rPr>
              <a:t>Not everything clusters cleanly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148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6790"/>
                </a:solidFill>
                <a:latin typeface="Segoe UI"/>
              </a:rPr>
              <a:t>A silhouette score (~0.04) showed the feedback is a continuum — so “how many themes” is a product judgment, not a metric.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83480"/>
            <a:ext cx="128016" cy="1143000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3000" y="4983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41B4B"/>
                </a:solidFill>
                <a:latin typeface="Segoe UI Semibold"/>
              </a:rPr>
              <a:t>Models are confidently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44068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6790"/>
                </a:solidFill>
                <a:latin typeface="Segoe UI"/>
              </a:rPr>
              <a:t>Every label came back 80–100% sure, including the wrong ones — which is exactly why an independent eval matters.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Built end-to-end. Live &amp; open-source.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A29BFE"/>
                </a:solidFill>
                <a:latin typeface="Segoe UI"/>
              </a:rPr>
              <a:t>Ingestion → classification → evaluation → themes → RICE → PRDs → boardroom →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B6790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signalloop.streamlit.app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81728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B6790"/>
                </a:solidFill>
                <a:latin typeface="Segoe UI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68172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github.com/sainianuj07/signalloop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48656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B6790"/>
                </a:solidFill>
                <a:latin typeface="Segoe UI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248656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anuj.product.iitr@gmail.com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B894"/>
                </a:solidFill>
                <a:latin typeface="Segoe UI Semibold"/>
              </a:rPr>
              <a:t>Open to AI Product Management roles.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
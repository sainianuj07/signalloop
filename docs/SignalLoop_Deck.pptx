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312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22960" y="1280160"/>
            <a:ext cx="164592" cy="164592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115568" y="1280160"/>
            <a:ext cx="164592" cy="164592"/>
          </a:xfrm>
          <a:prstGeom prst="ellipse">
            <a:avLst/>
          </a:prstGeom>
          <a:solidFill>
            <a:srgbClr val="00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08176" y="1280160"/>
            <a:ext cx="164592" cy="164592"/>
          </a:xfrm>
          <a:prstGeom prst="ellipse">
            <a:avLst/>
          </a:prstGeom>
          <a:solidFill>
            <a:srgbClr val="098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00784" y="1280160"/>
            <a:ext cx="164592" cy="164592"/>
          </a:xfrm>
          <a:prstGeom prst="ellipse">
            <a:avLst/>
          </a:prstGeom>
          <a:solidFill>
            <a:srgbClr val="FDC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57400"/>
            <a:ext cx="10607040" cy="11887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 i="0" dirty="0" err="1">
                <a:solidFill>
                  <a:srgbClr val="FFFFFF"/>
                </a:solidFill>
                <a:latin typeface="Segoe UI Semibold"/>
              </a:rPr>
              <a:t>SignalLoop</a:t>
            </a:r>
            <a:endParaRPr sz="6600" b="1" i="0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3337560"/>
            <a:ext cx="100584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A29BFE"/>
                </a:solidFill>
                <a:latin typeface="Segoe UI"/>
              </a:rPr>
              <a:t>Turning raw user feedback into an evidence-backed product roadmap.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10058400" cy="97565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 dirty="0">
                <a:solidFill>
                  <a:srgbClr val="FFFFFF"/>
                </a:solidFill>
                <a:latin typeface="Segoe UI"/>
              </a:rPr>
              <a:t>Anuj Kumar</a:t>
            </a:r>
          </a:p>
          <a:p>
            <a:pPr algn="l">
              <a:spcAft>
                <a:spcPts val="600"/>
              </a:spcAft>
            </a:pPr>
            <a:r>
              <a:rPr sz="1700" b="0" i="0" dirty="0">
                <a:solidFill>
                  <a:srgbClr val="D8D3F2"/>
                </a:solidFill>
                <a:latin typeface="Segoe UI"/>
              </a:rPr>
              <a:t>  Aspiring AI Product Manager</a:t>
            </a:r>
            <a:endParaRPr lang="en-IN" sz="1700" dirty="0">
              <a:solidFill>
                <a:srgbClr val="D8D3F2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lang="en-IN" sz="1700" b="0" i="0" dirty="0">
                <a:solidFill>
                  <a:srgbClr val="D8D3F2"/>
                </a:solidFill>
                <a:latin typeface="Segoe UI"/>
              </a:rPr>
              <a:t>  anuj.product.iitr@gmail.com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8D3F2"/>
                </a:solidFill>
                <a:latin typeface="Segoe UI"/>
              </a:rPr>
              <a:t>signalloop.streamlit.app    ·    github.com/sainianuj07/signalloop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713232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24128" y="603504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6C5CE7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41B4B"/>
                </a:solidFill>
                <a:latin typeface="Segoe UI Semibold"/>
              </a:rPr>
              <a:t>Teams drown in feedback — and decide by gut.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6400800" cy="21945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6B6790"/>
                </a:solidFill>
                <a:latin typeface="Segoe UI"/>
              </a:rPr>
              <a:t>Early-stage SaaS teams collect feedback everywhere — app reviews, tickets, NPS — but nobody has time to read it all.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6790"/>
                </a:solidFill>
                <a:latin typeface="Segoe UI"/>
              </a:rPr>
              <a:t>So roadmap calls default to the loudest customer or a hunch. The signal is in there; it just never gets found.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2240280"/>
            <a:ext cx="3749039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0" y="2468880"/>
            <a:ext cx="3749039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400" b="1" i="0">
                <a:solidFill>
                  <a:srgbClr val="6C5CE7"/>
                </a:solidFill>
                <a:latin typeface="Segoe UI Semibold"/>
              </a:rPr>
              <a:t>216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3474720"/>
            <a:ext cx="3749039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6B6790"/>
                </a:solidFill>
                <a:latin typeface="Segoe UI"/>
              </a:rPr>
              <a:t>real reviews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886200"/>
            <a:ext cx="3749039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E17055"/>
                </a:solidFill>
                <a:latin typeface="Segoe UI"/>
              </a:rPr>
              <a:t>0 PMs with time to read them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713232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24128" y="603504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6C5CE7"/>
                </a:solidFill>
                <a:latin typeface="Segoe UI Semibold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 dirty="0">
                <a:solidFill>
                  <a:srgbClr val="241B4B"/>
                </a:solidFill>
                <a:latin typeface="Segoe UI Semibold"/>
              </a:rPr>
              <a:t>Close the loop — feedback to decision.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43200"/>
            <a:ext cx="2487168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2487168" cy="109728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2304288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41B4B"/>
                </a:solidFill>
                <a:latin typeface="Segoe UI Semibold"/>
              </a:rPr>
              <a:t>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57600"/>
            <a:ext cx="2304288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Reviews &amp; tickets
into one place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520440"/>
            <a:ext cx="3108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A29BFE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38728" y="2743200"/>
            <a:ext cx="2487168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38728" y="2743200"/>
            <a:ext cx="2487168" cy="109728"/>
          </a:xfrm>
          <a:prstGeom prst="rect">
            <a:avLst/>
          </a:prstGeom>
          <a:solidFill>
            <a:srgbClr val="098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0168" y="3063240"/>
            <a:ext cx="2304288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41B4B"/>
                </a:solidFill>
                <a:latin typeface="Segoe UI Semibold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3657600"/>
            <a:ext cx="2304288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LLM labels every
item (type, severity)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3520440"/>
            <a:ext cx="3108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A29BFE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0216" y="2743200"/>
            <a:ext cx="2487168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00216" y="2743200"/>
            <a:ext cx="2487168" cy="109728"/>
          </a:xfrm>
          <a:prstGeom prst="rect">
            <a:avLst/>
          </a:prstGeom>
          <a:solidFill>
            <a:srgbClr val="00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91655" y="3063240"/>
            <a:ext cx="2304288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41B4B"/>
                </a:solidFill>
                <a:latin typeface="Segoe UI Semibold"/>
              </a:rPr>
              <a:t>Prioritize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657600"/>
            <a:ext cx="2304288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Cluster into themes
→ rank with 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9096" y="3520440"/>
            <a:ext cx="310896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A29BFE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61704" y="2743200"/>
            <a:ext cx="2487168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61704" y="2743200"/>
            <a:ext cx="2487168" cy="109728"/>
          </a:xfrm>
          <a:prstGeom prst="rect">
            <a:avLst/>
          </a:prstGeom>
          <a:solidFill>
            <a:srgbClr val="E17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53144" y="3063240"/>
            <a:ext cx="2304288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41B4B"/>
                </a:solidFill>
                <a:latin typeface="Segoe UI Semibold"/>
              </a:rPr>
              <a:t>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3144" y="3657600"/>
            <a:ext cx="2304288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PRDs, decisions,
weekly briefs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6790"/>
                </a:solidFill>
                <a:latin typeface="Segoe UI"/>
              </a:rPr>
              <a:t>Built end-to-end on 216 live Notion reviews — not a toy dataset.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713232"/>
            <a:ext cx="146304" cy="146304"/>
          </a:xfrm>
          <a:prstGeom prst="ellipse">
            <a:avLst/>
          </a:prstGeom>
          <a:solidFill>
            <a:srgbClr val="098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24128" y="603504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984E3"/>
                </a:solidFill>
                <a:latin typeface="Segoe UI Semibold"/>
              </a:rPr>
              <a:t>UNDERSTAND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41B4B"/>
                </a:solidFill>
                <a:latin typeface="Segoe UI Semibold"/>
              </a:rPr>
              <a:t>Every review becomes structured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4241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6790"/>
                </a:solidFill>
                <a:latin typeface="Segoe UI"/>
              </a:rPr>
              <a:t>An LLM turns messy text into clean JSON the product can actually use — labelled by type, product area, sentiment, and severity. Batched, retried, with an offline mock mode.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29000"/>
            <a:ext cx="608076" cy="502920"/>
          </a:xfrm>
          <a:prstGeom prst="roundRect">
            <a:avLst/>
          </a:prstGeom>
          <a:solidFill>
            <a:srgbClr val="A29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3511296"/>
            <a:ext cx="608076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41B4B"/>
                </a:solidFill>
                <a:latin typeface="Segoe UI"/>
              </a:rPr>
              <a:t>bug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13916" y="3429000"/>
            <a:ext cx="1869948" cy="502920"/>
          </a:xfrm>
          <a:prstGeom prst="roundRect">
            <a:avLst/>
          </a:prstGeom>
          <a:solidFill>
            <a:srgbClr val="A29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13916" y="3511296"/>
            <a:ext cx="186994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41B4B"/>
                </a:solidFill>
                <a:latin typeface="Segoe UI"/>
              </a:rPr>
              <a:t>feature_request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66744" y="3429000"/>
            <a:ext cx="1449324" cy="502920"/>
          </a:xfrm>
          <a:prstGeom prst="roundRect">
            <a:avLst/>
          </a:prstGeom>
          <a:solidFill>
            <a:srgbClr val="A29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66744" y="3511296"/>
            <a:ext cx="1449324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41B4B"/>
                </a:solidFill>
                <a:latin typeface="Segoe UI"/>
              </a:rPr>
              <a:t>ux_friction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98948" y="3429000"/>
            <a:ext cx="1028700" cy="502920"/>
          </a:xfrm>
          <a:prstGeom prst="roundRect">
            <a:avLst/>
          </a:prstGeom>
          <a:solidFill>
            <a:srgbClr val="A29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98948" y="3511296"/>
            <a:ext cx="10287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41B4B"/>
                </a:solidFill>
                <a:latin typeface="Segoe UI"/>
              </a:rPr>
              <a:t>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3429000"/>
            <a:ext cx="1344168" cy="502920"/>
          </a:xfrm>
          <a:prstGeom prst="roundRect">
            <a:avLst/>
          </a:prstGeom>
          <a:solidFill>
            <a:srgbClr val="A29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3511296"/>
            <a:ext cx="1344168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41B4B"/>
                </a:solidFill>
                <a:latin typeface="Segoe UI"/>
              </a:rPr>
              <a:t>churn_risk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7576" y="3429000"/>
            <a:ext cx="1133856" cy="502920"/>
          </a:xfrm>
          <a:prstGeom prst="roundRect">
            <a:avLst/>
          </a:prstGeom>
          <a:solidFill>
            <a:srgbClr val="A29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37576" y="3511296"/>
            <a:ext cx="1133856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41B4B"/>
                </a:solidFill>
                <a:latin typeface="Segoe UI"/>
              </a:rPr>
              <a:t>question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54312" y="3429000"/>
            <a:ext cx="923544" cy="502920"/>
          </a:xfrm>
          <a:prstGeom prst="roundRect">
            <a:avLst/>
          </a:prstGeom>
          <a:solidFill>
            <a:srgbClr val="A29B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54312" y="3511296"/>
            <a:ext cx="923544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41B4B"/>
                </a:solidFill>
                <a:latin typeface="Segoe UI"/>
              </a:rPr>
              <a:t>praise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38912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33832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 i="0">
                <a:solidFill>
                  <a:srgbClr val="6C5CE7"/>
                </a:solidFill>
                <a:latin typeface="Segoe UI Semibold"/>
              </a:rPr>
              <a:t>216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03520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reviews labelled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438912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3832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 i="0">
                <a:solidFill>
                  <a:srgbClr val="0984E3"/>
                </a:solidFill>
                <a:latin typeface="Segoe UI Semibold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03520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feedback types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38912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0" y="4526280"/>
            <a:ext cx="33832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 i="0">
                <a:solidFill>
                  <a:srgbClr val="00B894"/>
                </a:solidFill>
                <a:latin typeface="Segoe UI Semibold"/>
              </a:rPr>
              <a:t>1-4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303520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severity scale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713232"/>
            <a:ext cx="146304" cy="146304"/>
          </a:xfrm>
          <a:prstGeom prst="ellipse">
            <a:avLst/>
          </a:prstGeom>
          <a:solidFill>
            <a:srgbClr val="00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24128" y="603504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0B894"/>
                </a:solidFill>
                <a:latin typeface="Segoe UI Semibold"/>
              </a:rPr>
              <a:t>THE EVAL SPINE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“How do I know the AI is right?”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6492240" cy="2011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D8D3F2"/>
                </a:solidFill>
                <a:latin typeface="Segoe UI"/>
              </a:rPr>
              <a:t>I hand-labelled a golden set, then built an 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A29BFE"/>
                </a:solidFill>
                <a:latin typeface="Segoe UI"/>
              </a:rPr>
              <a:t>independent LLM judge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D8D3F2"/>
                </a:solidFill>
                <a:latin typeface="Segoe UI"/>
              </a:rPr>
              <a:t> — OpenAI’s model grading Meta’s, so it can’t just agree with itself. I only trusted it after it matched my human labels.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2148840"/>
            <a:ext cx="3840480" cy="1371600"/>
          </a:xfrm>
          <a:prstGeom prst="roundRect">
            <a:avLst/>
          </a:prstGeom>
          <a:solidFill>
            <a:srgbClr val="32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0" y="2286000"/>
            <a:ext cx="3840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 i="0">
                <a:solidFill>
                  <a:srgbClr val="00B894"/>
                </a:solidFill>
                <a:latin typeface="Segoe UI Semibold"/>
              </a:rPr>
              <a:t>~96%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06324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D8D3F2"/>
                </a:solidFill>
                <a:latin typeface="Segoe UI"/>
              </a:rPr>
              <a:t>judge-estimated type accuracy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26280"/>
            <a:ext cx="10561320" cy="1600200"/>
          </a:xfrm>
          <a:prstGeom prst="roundRect">
            <a:avLst/>
          </a:prstGeom>
          <a:solidFill>
            <a:srgbClr val="322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4709160"/>
            <a:ext cx="1005840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DCB6E"/>
                </a:solidFill>
                <a:latin typeface="Segoe UI"/>
              </a:rPr>
              <a:t>It caught a bias I’d never have spotted by eye: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14984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D8D3F2"/>
                </a:solidFill>
                <a:latin typeface="Segoe UI"/>
              </a:rPr>
              <a:t>The classifier tagged </a:t>
            </a:r>
          </a:p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FFFFFF"/>
                </a:solidFill>
                <a:latin typeface="Segoe UI"/>
              </a:rPr>
              <a:t>angry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D8D3F2"/>
                </a:solidFill>
                <a:latin typeface="Segoe UI"/>
              </a:rPr>
              <a:t> reviews as 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A29BFE"/>
                </a:solidFill>
                <a:latin typeface="Segoe UI"/>
              </a:rPr>
              <a:t>churn_risk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D8D3F2"/>
                </a:solidFill>
                <a:latin typeface="Segoe UI"/>
              </a:rPr>
              <a:t> even when nobody said they’d leave. I tightened the prompt (anger ≠ churn), re-ran the eval, and the bad labels dropped 14 → 9. Measure → fix → measure.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713232"/>
            <a:ext cx="146304" cy="146304"/>
          </a:xfrm>
          <a:prstGeom prst="ellipse">
            <a:avLst/>
          </a:prstGeom>
          <a:solidFill>
            <a:srgbClr val="00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24128" y="603504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0B894"/>
                </a:solidFill>
                <a:latin typeface="Segoe UI Semibold"/>
              </a:rPr>
              <a:t>PRIORITIZE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41B4B"/>
                </a:solidFill>
                <a:latin typeface="Segoe UI Semibold"/>
              </a:rPr>
              <a:t>From themes to a ranked 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4241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6790"/>
                </a:solidFill>
                <a:latin typeface="Segoe UI"/>
              </a:rPr>
              <a:t>Reviews are embedded, clustered into named themes, then scored with RICE = (Reach × Impact × Confidence) / Effort — so priority is grounded in data, not volume.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4206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41B4B"/>
                </a:solidFill>
                <a:latin typeface="Segoe UI"/>
              </a:rPr>
              <a:t>App Performance &amp; Stability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3429000"/>
            <a:ext cx="5486400" cy="292608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661904" y="3401568"/>
            <a:ext cx="82296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0" y="3410712"/>
            <a:ext cx="914400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C5CE7"/>
                </a:solidFill>
                <a:latin typeface="Segoe UI"/>
              </a:rPr>
              <a:t>34.8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50208"/>
            <a:ext cx="4206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41B4B"/>
                </a:solidFill>
                <a:latin typeface="Segoe UI"/>
              </a:rPr>
              <a:t>UI/UX &amp; Mobile Hurdles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995928"/>
            <a:ext cx="3346704" cy="292608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522208" y="3968496"/>
            <a:ext cx="82296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58784" y="3977640"/>
            <a:ext cx="914400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C5CE7"/>
                </a:solidFill>
                <a:latin typeface="Segoe UI"/>
              </a:rPr>
              <a:t>21.2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17136"/>
            <a:ext cx="4206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41B4B"/>
                </a:solidFill>
                <a:latin typeface="Segoe UI"/>
              </a:rPr>
              <a:t>Functionality &amp; Usability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4562856"/>
            <a:ext cx="3072384" cy="292608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47888" y="4535424"/>
            <a:ext cx="82296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4" y="4544568"/>
            <a:ext cx="914400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C5CE7"/>
                </a:solidFill>
                <a:latin typeface="Segoe UI"/>
              </a:rPr>
              <a:t>19.4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84064"/>
            <a:ext cx="4206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41B4B"/>
                </a:solidFill>
                <a:latin typeface="Segoe UI"/>
              </a:rPr>
              <a:t>Intrusive AI Features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5129784"/>
            <a:ext cx="2194560" cy="292608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70064" y="5102352"/>
            <a:ext cx="82296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06640" y="5111496"/>
            <a:ext cx="914400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C5CE7"/>
                </a:solidFill>
                <a:latin typeface="Segoe UI"/>
              </a:rPr>
              <a:t>14.0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650992"/>
            <a:ext cx="42062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41B4B"/>
                </a:solidFill>
                <a:latin typeface="Segoe UI"/>
              </a:rPr>
              <a:t>False Offline 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5696712"/>
            <a:ext cx="2029967" cy="292608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205471" y="5669280"/>
            <a:ext cx="82296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42047" y="5678424"/>
            <a:ext cx="914400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C5CE7"/>
                </a:solidFill>
                <a:latin typeface="Segoe UI"/>
              </a:rPr>
              <a:t>12.8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713232"/>
            <a:ext cx="146304" cy="146304"/>
          </a:xfrm>
          <a:prstGeom prst="ellipse">
            <a:avLst/>
          </a:prstGeom>
          <a:solidFill>
            <a:srgbClr val="E17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24128" y="603504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17055"/>
                </a:solidFill>
                <a:latin typeface="Segoe UI Semibold"/>
              </a:rPr>
              <a:t>ACT ·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41B4B"/>
                </a:solidFill>
                <a:latin typeface="Segoe UI Semibold"/>
              </a:rPr>
              <a:t>PRDs that can’t hallucinate quotes.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6400800" cy="2011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6790"/>
                </a:solidFill>
                <a:latin typeface="Segoe UI"/>
              </a:rPr>
              <a:t>The generator drafts a full PRD where 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41B4B"/>
                </a:solidFill>
                <a:latin typeface="Segoe UI"/>
              </a:rPr>
              <a:t>every claim cites a real review ID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6790"/>
                </a:solidFill>
                <a:latin typeface="Segoe UI"/>
              </a:rPr>
              <a:t> like [#149]. A checker verifies each citation exists, and the evidence quotes are pulled straight from the database — not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64008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241B4B"/>
                </a:solidFill>
                <a:latin typeface="Segoe UI"/>
              </a:rPr>
              <a:t>So the model picks which reviews to cite; my code supplies the actual words. A faked quote is impossible by construction.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2286000"/>
            <a:ext cx="38404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0" y="246888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B6790"/>
                </a:solidFill>
                <a:latin typeface="Segoe UI"/>
              </a:rPr>
              <a:t>Citation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880360"/>
            <a:ext cx="3840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 i="0">
                <a:solidFill>
                  <a:srgbClr val="00B894"/>
                </a:solidFill>
                <a:latin typeface="Segoe UI Semibold"/>
              </a:rPr>
              <a:t>15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794760"/>
            <a:ext cx="3840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6B6790"/>
                </a:solidFill>
                <a:latin typeface="Segoe UI"/>
              </a:rPr>
              <a:t>citations valid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206240"/>
            <a:ext cx="38404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E17055"/>
                </a:solidFill>
                <a:latin typeface="Segoe UI"/>
              </a:rPr>
              <a:t>0 hallucinated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713232"/>
            <a:ext cx="146304" cy="146304"/>
          </a:xfrm>
          <a:prstGeom prst="ellipse">
            <a:avLst/>
          </a:prstGeom>
          <a:solidFill>
            <a:srgbClr val="E17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24128" y="603504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17055"/>
                </a:solidFill>
                <a:latin typeface="Segoe UI Semibold"/>
              </a:rPr>
              <a:t>ACT ·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241B4B"/>
                </a:solidFill>
                <a:latin typeface="Segoe UI Semibold"/>
              </a:rPr>
              <a:t>Prioritization is a negotiation, not a formula.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42416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6790"/>
                </a:solidFill>
                <a:latin typeface="Segoe UI"/>
              </a:rPr>
              <a:t>Three agents debate the roadmap from their own incentives; a Head-of-Product agent makes the call — and records who got overruled.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0040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109728" cy="137160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3383280"/>
            <a:ext cx="2194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41B4B"/>
                </a:solidFill>
                <a:latin typeface="Segoe UI Semibold"/>
              </a:rPr>
              <a:t>Growth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4048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reach · retention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20040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566160" y="3200400"/>
            <a:ext cx="109728" cy="1371600"/>
          </a:xfrm>
          <a:prstGeom prst="rect">
            <a:avLst/>
          </a:prstGeom>
          <a:solidFill>
            <a:srgbClr val="098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94760" y="3383280"/>
            <a:ext cx="2194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41B4B"/>
                </a:solidFill>
                <a:latin typeface="Segoe UI Semibold"/>
              </a:rPr>
              <a:t>Engineering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84048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effort · risk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200400"/>
            <a:ext cx="2514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3200400"/>
            <a:ext cx="109728" cy="1371600"/>
          </a:xfrm>
          <a:prstGeom prst="rect">
            <a:avLst/>
          </a:prstGeom>
          <a:solidFill>
            <a:srgbClr val="00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3383280"/>
            <a:ext cx="2194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41B4B"/>
                </a:solidFill>
                <a:latin typeface="Segoe UI Semibold"/>
              </a:rPr>
              <a:t>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840480"/>
            <a:ext cx="21945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cost · ROI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611880"/>
            <a:ext cx="54864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A29BFE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3200400"/>
            <a:ext cx="2011680" cy="1371600"/>
          </a:xfrm>
          <a:prstGeom prst="roundRect">
            <a:avLst/>
          </a:prstGeom>
          <a:solidFill>
            <a:srgbClr val="24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18320" y="3401568"/>
            <a:ext cx="2011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Head of 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840480"/>
            <a:ext cx="20116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A29BFE"/>
                </a:solidFill>
                <a:latin typeface="Segoe UI"/>
              </a:rPr>
              <a:t>decides + logs dissent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6B6790"/>
                </a:solidFill>
                <a:latin typeface="Segoe UI"/>
              </a:rPr>
              <a:t>“I’m knowingly setting aside Engineering’s concern on False Offline Status — and I’m comfortable carrying that risk.”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713232"/>
            <a:ext cx="146304" cy="146304"/>
          </a:xfrm>
          <a:prstGeom prst="ellipse">
            <a:avLst/>
          </a:prstGeom>
          <a:solidFill>
            <a:srgbClr val="E17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24128" y="603504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17055"/>
                </a:solidFill>
                <a:latin typeface="Segoe UI Semibold"/>
              </a:rPr>
              <a:t>ACT ·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41B4B"/>
                </a:solidFill>
                <a:latin typeface="Segoe UI Semibold"/>
              </a:rPr>
              <a:t>Watching what’s changing, not just what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640080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6B6790"/>
                </a:solidFill>
                <a:latin typeface="Segoe UI"/>
              </a:rPr>
              <a:t>A static dashboard shows the state of feedback. Drift compares this week to last and flags the spikes — the emerging issues a ranked table buries.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2286000"/>
            <a:ext cx="39319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79" y="2514600"/>
            <a:ext cx="39319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1B4B"/>
                </a:solidFill>
                <a:latin typeface="Segoe UI"/>
              </a:rPr>
              <a:t>False Offline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017520"/>
            <a:ext cx="393192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B6790"/>
                </a:solidFill>
                <a:latin typeface="Segoe UI Semibold"/>
              </a:rPr>
              <a:t>1 </a:t>
            </a:r>
          </a:p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A29BFE"/>
                </a:solidFill>
                <a:latin typeface="Segoe UI Semibold"/>
              </a:rPr>
              <a:t> → </a:t>
            </a:r>
          </a:p>
          <a:p>
            <a:pPr algn="ctr">
              <a:spcAft>
                <a:spcPts val="600"/>
              </a:spcAft>
            </a:pPr>
            <a:r>
              <a:rPr sz="5600" b="1" i="0">
                <a:solidFill>
                  <a:srgbClr val="E17055"/>
                </a:solidFill>
                <a:latin typeface="Segoe UI Semibold"/>
              </a:rPr>
              <a:t>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4114800"/>
            <a:ext cx="39319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6B6790"/>
                </a:solidFill>
                <a:latin typeface="Segoe UI"/>
              </a:rPr>
              <a:t>complaints, week over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480560"/>
            <a:ext cx="39319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6C5CE7"/>
                </a:solidFill>
                <a:latin typeface="Segoe UI"/>
              </a:rPr>
              <a:t>+ an auto-written “State of Feedback” 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31920"/>
            <a:ext cx="640080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241B4B"/>
                </a:solidFill>
                <a:latin typeface="Segoe UI"/>
              </a:rPr>
              <a:t>6× in a week often means a fresh regression — exactly what you want flagged early.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77240" y="713232"/>
            <a:ext cx="146304" cy="146304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24128" y="603504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6C5CE7"/>
                </a:solidFill>
                <a:latin typeface="Segoe UI Semibold"/>
              </a:rPr>
              <a:t>WHAT I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60704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41B4B"/>
                </a:solidFill>
                <a:latin typeface="Segoe UI Semibold"/>
              </a:rPr>
              <a:t>The honest 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128016" cy="1143000"/>
          </a:xfrm>
          <a:prstGeom prst="rect">
            <a:avLst/>
          </a:prstGeom>
          <a:solidFill>
            <a:srgbClr val="E17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2331720"/>
            <a:ext cx="10058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41B4B"/>
                </a:solidFill>
                <a:latin typeface="Segoe UI Semibold"/>
              </a:rPr>
              <a:t>Rate limits were the real boss fight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88920"/>
            <a:ext cx="1005840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B6790"/>
                </a:solidFill>
                <a:latin typeface="Segoe UI"/>
              </a:rPr>
              <a:t>Not model quality. I built provider fallback, cooldowns, and an embedding cache to survive free tiers.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657600"/>
            <a:ext cx="128016" cy="1143000"/>
          </a:xfrm>
          <a:prstGeom prst="rect">
            <a:avLst/>
          </a:prstGeom>
          <a:solidFill>
            <a:srgbClr val="098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10058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41B4B"/>
                </a:solidFill>
                <a:latin typeface="Segoe UI Semibold"/>
              </a:rPr>
              <a:t>Not everything clusters cleanly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114800"/>
            <a:ext cx="1005840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B6790"/>
                </a:solidFill>
                <a:latin typeface="Segoe UI"/>
              </a:rPr>
              <a:t>A silhouette score (~0.04) showed the feedback is a continuum — so “how many themes” is a product judgment, not a metric.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983480"/>
            <a:ext cx="128016" cy="1143000"/>
          </a:xfrm>
          <a:prstGeom prst="rect">
            <a:avLst/>
          </a:prstGeom>
          <a:solidFill>
            <a:srgbClr val="00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983480"/>
            <a:ext cx="10058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241B4B"/>
                </a:solidFill>
                <a:latin typeface="Segoe UI Semibold"/>
              </a:rPr>
              <a:t>Models are confidently wrong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440680"/>
            <a:ext cx="1005840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B6790"/>
                </a:solidFill>
                <a:latin typeface="Segoe UI"/>
              </a:rPr>
              <a:t>Every label came back 80–100% sure, including the wrong ones — which is exactly why an independent eval matters.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Segoe UI Semibold"/>
              </a:rPr>
              <a:t>Built end-to-end. Live &amp; open-source.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A29BFE"/>
                </a:solidFill>
                <a:latin typeface="Segoe UI"/>
              </a:rPr>
              <a:t>Ingestion → classification → evaluation → themes → RICE → PRDs → boardroom → drift.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B6790"/>
                </a:solidFill>
                <a:latin typeface="Segoe U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4114800"/>
            <a:ext cx="8229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Segoe UI"/>
              </a:rPr>
              <a:t>signalloop.streamlit.app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81728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B6790"/>
                </a:solidFill>
                <a:latin typeface="Segoe UI"/>
              </a:rPr>
              <a:t>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681728"/>
            <a:ext cx="8229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Segoe UI"/>
              </a:rPr>
              <a:t>github.com/sainianuj07/signalloop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48656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B6790"/>
                </a:solidFill>
                <a:latin typeface="Segoe UI"/>
              </a:rPr>
              <a:t>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5248656"/>
            <a:ext cx="8229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Segoe UI"/>
              </a:rPr>
              <a:t>anuj.product.iitr@gmail.com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B894"/>
                </a:solidFill>
                <a:latin typeface="Segoe UI Semibold"/>
              </a:rPr>
              <a:t>Open to AI Product Management roles.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802</Words>
  <Application>Microsoft Office PowerPoint</Application>
  <PresentationFormat>Widescreen</PresentationFormat>
  <Paragraphs>119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Anuj Kumar</cp:lastModifiedBy>
  <cp:revision>2</cp:revision>
  <dcterms:created xsi:type="dcterms:W3CDTF">2013-01-27T09:14:16Z</dcterms:created>
  <dcterms:modified xsi:type="dcterms:W3CDTF">2026-06-15T12:55:47Z</dcterms:modified>
  <cp:category/>
</cp:coreProperties>
</file>